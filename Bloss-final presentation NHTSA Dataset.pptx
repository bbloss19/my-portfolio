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3" r:id="rId6"/>
    <p:sldId id="271" r:id="rId7"/>
    <p:sldId id="267" r:id="rId8"/>
    <p:sldId id="273" r:id="rId9"/>
    <p:sldId id="272" r:id="rId10"/>
    <p:sldId id="268" r:id="rId11"/>
    <p:sldId id="269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>
        <p:scale>
          <a:sx n="65" d="100"/>
          <a:sy n="65" d="100"/>
        </p:scale>
        <p:origin x="53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F1D9FA-F5BD-4EA9-83A6-7F66A1A0FD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6E679BC-46C2-4A34-A72A-287412FAC69D}">
      <dgm:prSet/>
      <dgm:spPr/>
      <dgm:t>
        <a:bodyPr/>
        <a:lstStyle/>
        <a:p>
          <a:r>
            <a:rPr lang="en-US"/>
            <a:t>There were roughly 38,700 rows and 70 columns where many of the columns were discrete versions of the categorical variable columns next to it.</a:t>
          </a:r>
        </a:p>
      </dgm:t>
    </dgm:pt>
    <dgm:pt modelId="{1A77A268-EBE3-463A-BB17-4AF447BECD25}" type="parTrans" cxnId="{ACF4C20E-CB56-4B3D-AA80-3828564BAADD}">
      <dgm:prSet/>
      <dgm:spPr/>
      <dgm:t>
        <a:bodyPr/>
        <a:lstStyle/>
        <a:p>
          <a:endParaRPr lang="en-US"/>
        </a:p>
      </dgm:t>
    </dgm:pt>
    <dgm:pt modelId="{C4933646-D41C-4ADF-B29B-CA08464F40DC}" type="sibTrans" cxnId="{ACF4C20E-CB56-4B3D-AA80-3828564BAADD}">
      <dgm:prSet/>
      <dgm:spPr/>
      <dgm:t>
        <a:bodyPr/>
        <a:lstStyle/>
        <a:p>
          <a:endParaRPr lang="en-US"/>
        </a:p>
      </dgm:t>
    </dgm:pt>
    <dgm:pt modelId="{C36C0964-DA64-4CE1-968D-476AE0ACFD5B}">
      <dgm:prSet/>
      <dgm:spPr/>
      <dgm:t>
        <a:bodyPr/>
        <a:lstStyle/>
        <a:p>
          <a:r>
            <a:rPr lang="en-US" dirty="0"/>
            <a:t>There were 9 continuous variables and around 30 unique discrete or continuous variables.</a:t>
          </a:r>
        </a:p>
      </dgm:t>
    </dgm:pt>
    <dgm:pt modelId="{44BA6251-90EB-484C-859D-D47F3C993CF2}" type="parTrans" cxnId="{06703DEE-BFE4-469C-BBB6-C209C9968956}">
      <dgm:prSet/>
      <dgm:spPr/>
      <dgm:t>
        <a:bodyPr/>
        <a:lstStyle/>
        <a:p>
          <a:endParaRPr lang="en-US"/>
        </a:p>
      </dgm:t>
    </dgm:pt>
    <dgm:pt modelId="{80CEEC5F-6408-4C1D-B7F4-76D01C1BD33E}" type="sibTrans" cxnId="{06703DEE-BFE4-469C-BBB6-C209C9968956}">
      <dgm:prSet/>
      <dgm:spPr/>
      <dgm:t>
        <a:bodyPr/>
        <a:lstStyle/>
        <a:p>
          <a:endParaRPr lang="en-US"/>
        </a:p>
      </dgm:t>
    </dgm:pt>
    <dgm:pt modelId="{3BF4A1DD-A7A4-48CC-85D9-CAE542A5D797}">
      <dgm:prSet/>
      <dgm:spPr/>
      <dgm:t>
        <a:bodyPr/>
        <a:lstStyle/>
        <a:p>
          <a:r>
            <a:rPr lang="en-US" dirty="0"/>
            <a:t>For</a:t>
          </a:r>
          <a:r>
            <a:rPr lang="en-US" baseline="0" dirty="0"/>
            <a:t> the collision to be included in the dataset, there must have been at least one death that was a direct result of the collision.</a:t>
          </a:r>
          <a:endParaRPr lang="en-US" dirty="0"/>
        </a:p>
      </dgm:t>
    </dgm:pt>
    <dgm:pt modelId="{F0815180-7DFB-48F1-B9DF-07EA6E4B6187}" type="parTrans" cxnId="{1EE5A146-36C2-43B9-BB1D-CC75574D2651}">
      <dgm:prSet/>
      <dgm:spPr/>
      <dgm:t>
        <a:bodyPr/>
        <a:lstStyle/>
        <a:p>
          <a:endParaRPr lang="en-US"/>
        </a:p>
      </dgm:t>
    </dgm:pt>
    <dgm:pt modelId="{2990C7D0-754A-4DE1-AB79-D457838A244B}" type="sibTrans" cxnId="{1EE5A146-36C2-43B9-BB1D-CC75574D2651}">
      <dgm:prSet/>
      <dgm:spPr/>
      <dgm:t>
        <a:bodyPr/>
        <a:lstStyle/>
        <a:p>
          <a:endParaRPr lang="en-US"/>
        </a:p>
      </dgm:t>
    </dgm:pt>
    <dgm:pt modelId="{DD214361-E7F0-4AFD-ABE7-7FB07C754F2D}">
      <dgm:prSet custT="1"/>
      <dgm:spPr/>
      <dgm:t>
        <a:bodyPr/>
        <a:lstStyle/>
        <a:p>
          <a:r>
            <a:rPr lang="en-US" sz="1800" dirty="0"/>
            <a:t>All 50 states including Alaska and Hawaii were included in the dataset. Pedestrians that were struck and killed were also included in the dataset</a:t>
          </a:r>
        </a:p>
      </dgm:t>
    </dgm:pt>
    <dgm:pt modelId="{B3E1F781-5CB6-4B76-9ACB-456658442526}" type="parTrans" cxnId="{1B56C564-749F-4B74-BB31-564DA19F714A}">
      <dgm:prSet/>
      <dgm:spPr/>
      <dgm:t>
        <a:bodyPr/>
        <a:lstStyle/>
        <a:p>
          <a:endParaRPr lang="en-US"/>
        </a:p>
      </dgm:t>
    </dgm:pt>
    <dgm:pt modelId="{69EAE5B4-F2C4-4AFF-A1A8-555B6D7FB298}" type="sibTrans" cxnId="{1B56C564-749F-4B74-BB31-564DA19F714A}">
      <dgm:prSet/>
      <dgm:spPr/>
      <dgm:t>
        <a:bodyPr/>
        <a:lstStyle/>
        <a:p>
          <a:endParaRPr lang="en-US"/>
        </a:p>
      </dgm:t>
    </dgm:pt>
    <dgm:pt modelId="{14EA2BA9-DBEB-42CC-949D-9DA97197DE94}" type="pres">
      <dgm:prSet presAssocID="{E6F1D9FA-F5BD-4EA9-83A6-7F66A1A0FD5D}" presName="root" presStyleCnt="0">
        <dgm:presLayoutVars>
          <dgm:dir/>
          <dgm:resizeHandles val="exact"/>
        </dgm:presLayoutVars>
      </dgm:prSet>
      <dgm:spPr/>
    </dgm:pt>
    <dgm:pt modelId="{682F5988-B988-4CBC-A2C5-ECAD10258E65}" type="pres">
      <dgm:prSet presAssocID="{66E679BC-46C2-4A34-A72A-287412FAC69D}" presName="compNode" presStyleCnt="0"/>
      <dgm:spPr/>
    </dgm:pt>
    <dgm:pt modelId="{B9AD611E-470A-4B40-9A9F-0A7302D2E324}" type="pres">
      <dgm:prSet presAssocID="{66E679BC-46C2-4A34-A72A-287412FAC69D}" presName="bgRect" presStyleLbl="bgShp" presStyleIdx="0" presStyleCnt="4"/>
      <dgm:spPr/>
    </dgm:pt>
    <dgm:pt modelId="{7D0A3385-2D78-4F58-A3F1-275FDCCB0AFD}" type="pres">
      <dgm:prSet presAssocID="{66E679BC-46C2-4A34-A72A-287412FAC69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66BF314-73FF-4D60-8DD2-DAD1390F4FB8}" type="pres">
      <dgm:prSet presAssocID="{66E679BC-46C2-4A34-A72A-287412FAC69D}" presName="spaceRect" presStyleCnt="0"/>
      <dgm:spPr/>
    </dgm:pt>
    <dgm:pt modelId="{38175EEC-C6EB-45D3-9350-BFBD64B301F9}" type="pres">
      <dgm:prSet presAssocID="{66E679BC-46C2-4A34-A72A-287412FAC69D}" presName="parTx" presStyleLbl="revTx" presStyleIdx="0" presStyleCnt="4">
        <dgm:presLayoutVars>
          <dgm:chMax val="0"/>
          <dgm:chPref val="0"/>
        </dgm:presLayoutVars>
      </dgm:prSet>
      <dgm:spPr/>
    </dgm:pt>
    <dgm:pt modelId="{D70617D8-6BD2-4F96-9510-F89479E9109E}" type="pres">
      <dgm:prSet presAssocID="{C4933646-D41C-4ADF-B29B-CA08464F40DC}" presName="sibTrans" presStyleCnt="0"/>
      <dgm:spPr/>
    </dgm:pt>
    <dgm:pt modelId="{0B2A5F03-51D9-42E2-8A66-412F39379842}" type="pres">
      <dgm:prSet presAssocID="{C36C0964-DA64-4CE1-968D-476AE0ACFD5B}" presName="compNode" presStyleCnt="0"/>
      <dgm:spPr/>
    </dgm:pt>
    <dgm:pt modelId="{FDF5226D-B11E-478A-B6E7-4B14C61C9E20}" type="pres">
      <dgm:prSet presAssocID="{C36C0964-DA64-4CE1-968D-476AE0ACFD5B}" presName="bgRect" presStyleLbl="bgShp" presStyleIdx="1" presStyleCnt="4"/>
      <dgm:spPr/>
    </dgm:pt>
    <dgm:pt modelId="{D8FE278F-6D63-4D06-8A5E-2B3640B45BCE}" type="pres">
      <dgm:prSet presAssocID="{C36C0964-DA64-4CE1-968D-476AE0ACFD5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217084F0-DFD5-49F0-BACD-75564F41DF1F}" type="pres">
      <dgm:prSet presAssocID="{C36C0964-DA64-4CE1-968D-476AE0ACFD5B}" presName="spaceRect" presStyleCnt="0"/>
      <dgm:spPr/>
    </dgm:pt>
    <dgm:pt modelId="{60C07F80-41F5-4517-8020-0959508EB24E}" type="pres">
      <dgm:prSet presAssocID="{C36C0964-DA64-4CE1-968D-476AE0ACFD5B}" presName="parTx" presStyleLbl="revTx" presStyleIdx="1" presStyleCnt="4">
        <dgm:presLayoutVars>
          <dgm:chMax val="0"/>
          <dgm:chPref val="0"/>
        </dgm:presLayoutVars>
      </dgm:prSet>
      <dgm:spPr/>
    </dgm:pt>
    <dgm:pt modelId="{B12DA872-DDEC-4EEB-B7C3-404D54B3E2F5}" type="pres">
      <dgm:prSet presAssocID="{80CEEC5F-6408-4C1D-B7F4-76D01C1BD33E}" presName="sibTrans" presStyleCnt="0"/>
      <dgm:spPr/>
    </dgm:pt>
    <dgm:pt modelId="{90D238BE-A288-4AAA-9896-9EF373213E1D}" type="pres">
      <dgm:prSet presAssocID="{3BF4A1DD-A7A4-48CC-85D9-CAE542A5D797}" presName="compNode" presStyleCnt="0"/>
      <dgm:spPr/>
    </dgm:pt>
    <dgm:pt modelId="{198726FB-526F-4ABE-8553-C710970189F8}" type="pres">
      <dgm:prSet presAssocID="{3BF4A1DD-A7A4-48CC-85D9-CAE542A5D797}" presName="bgRect" presStyleLbl="bgShp" presStyleIdx="2" presStyleCnt="4"/>
      <dgm:spPr/>
    </dgm:pt>
    <dgm:pt modelId="{FD3DA3F7-859C-4E77-ACE3-E5800C2306A0}" type="pres">
      <dgm:prSet presAssocID="{3BF4A1DD-A7A4-48CC-85D9-CAE542A5D79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FA296DC9-0294-4E8C-845C-16B98AACF22D}" type="pres">
      <dgm:prSet presAssocID="{3BF4A1DD-A7A4-48CC-85D9-CAE542A5D797}" presName="spaceRect" presStyleCnt="0"/>
      <dgm:spPr/>
    </dgm:pt>
    <dgm:pt modelId="{941715D3-8DD3-4689-AA92-D7CB81F0BDEA}" type="pres">
      <dgm:prSet presAssocID="{3BF4A1DD-A7A4-48CC-85D9-CAE542A5D797}" presName="parTx" presStyleLbl="revTx" presStyleIdx="2" presStyleCnt="4">
        <dgm:presLayoutVars>
          <dgm:chMax val="0"/>
          <dgm:chPref val="0"/>
        </dgm:presLayoutVars>
      </dgm:prSet>
      <dgm:spPr/>
    </dgm:pt>
    <dgm:pt modelId="{BE09B976-5437-4335-9BCF-38BC644A3376}" type="pres">
      <dgm:prSet presAssocID="{2990C7D0-754A-4DE1-AB79-D457838A244B}" presName="sibTrans" presStyleCnt="0"/>
      <dgm:spPr/>
    </dgm:pt>
    <dgm:pt modelId="{C93A2493-9EAD-48E3-9CAE-765EB496C246}" type="pres">
      <dgm:prSet presAssocID="{DD214361-E7F0-4AFD-ABE7-7FB07C754F2D}" presName="compNode" presStyleCnt="0"/>
      <dgm:spPr/>
    </dgm:pt>
    <dgm:pt modelId="{CB4A9F74-2DF1-4350-8264-A743E8501CC2}" type="pres">
      <dgm:prSet presAssocID="{DD214361-E7F0-4AFD-ABE7-7FB07C754F2D}" presName="bgRect" presStyleLbl="bgShp" presStyleIdx="3" presStyleCnt="4"/>
      <dgm:spPr/>
    </dgm:pt>
    <dgm:pt modelId="{125A8501-B3FF-4CCA-BB31-5CF6AA0FEC9A}" type="pres">
      <dgm:prSet presAssocID="{DD214361-E7F0-4AFD-ABE7-7FB07C754F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AEE7CA44-A3BC-4884-8A23-C3261AB6CE8F}" type="pres">
      <dgm:prSet presAssocID="{DD214361-E7F0-4AFD-ABE7-7FB07C754F2D}" presName="spaceRect" presStyleCnt="0"/>
      <dgm:spPr/>
    </dgm:pt>
    <dgm:pt modelId="{8C36CC56-E1B1-46E0-AE53-777C36F9456E}" type="pres">
      <dgm:prSet presAssocID="{DD214361-E7F0-4AFD-ABE7-7FB07C754F2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F4C20E-CB56-4B3D-AA80-3828564BAADD}" srcId="{E6F1D9FA-F5BD-4EA9-83A6-7F66A1A0FD5D}" destId="{66E679BC-46C2-4A34-A72A-287412FAC69D}" srcOrd="0" destOrd="0" parTransId="{1A77A268-EBE3-463A-BB17-4AF447BECD25}" sibTransId="{C4933646-D41C-4ADF-B29B-CA08464F40DC}"/>
    <dgm:cxn modelId="{1B56C564-749F-4B74-BB31-564DA19F714A}" srcId="{E6F1D9FA-F5BD-4EA9-83A6-7F66A1A0FD5D}" destId="{DD214361-E7F0-4AFD-ABE7-7FB07C754F2D}" srcOrd="3" destOrd="0" parTransId="{B3E1F781-5CB6-4B76-9ACB-456658442526}" sibTransId="{69EAE5B4-F2C4-4AFF-A1A8-555B6D7FB298}"/>
    <dgm:cxn modelId="{1EE5A146-36C2-43B9-BB1D-CC75574D2651}" srcId="{E6F1D9FA-F5BD-4EA9-83A6-7F66A1A0FD5D}" destId="{3BF4A1DD-A7A4-48CC-85D9-CAE542A5D797}" srcOrd="2" destOrd="0" parTransId="{F0815180-7DFB-48F1-B9DF-07EA6E4B6187}" sibTransId="{2990C7D0-754A-4DE1-AB79-D457838A244B}"/>
    <dgm:cxn modelId="{7E1F5573-2FBC-4F4B-AF9C-0692A9D7E788}" type="presOf" srcId="{DD214361-E7F0-4AFD-ABE7-7FB07C754F2D}" destId="{8C36CC56-E1B1-46E0-AE53-777C36F9456E}" srcOrd="0" destOrd="0" presId="urn:microsoft.com/office/officeart/2018/2/layout/IconVerticalSolidList"/>
    <dgm:cxn modelId="{7F10AAA1-F0D0-413C-934A-C27D91D93C9D}" type="presOf" srcId="{E6F1D9FA-F5BD-4EA9-83A6-7F66A1A0FD5D}" destId="{14EA2BA9-DBEB-42CC-949D-9DA97197DE94}" srcOrd="0" destOrd="0" presId="urn:microsoft.com/office/officeart/2018/2/layout/IconVerticalSolidList"/>
    <dgm:cxn modelId="{F2E13BAD-CCA6-42E3-998F-B5BDC820AE41}" type="presOf" srcId="{66E679BC-46C2-4A34-A72A-287412FAC69D}" destId="{38175EEC-C6EB-45D3-9350-BFBD64B301F9}" srcOrd="0" destOrd="0" presId="urn:microsoft.com/office/officeart/2018/2/layout/IconVerticalSolidList"/>
    <dgm:cxn modelId="{523F83DC-4E65-4BC0-A048-64EF2DB9F69E}" type="presOf" srcId="{3BF4A1DD-A7A4-48CC-85D9-CAE542A5D797}" destId="{941715D3-8DD3-4689-AA92-D7CB81F0BDEA}" srcOrd="0" destOrd="0" presId="urn:microsoft.com/office/officeart/2018/2/layout/IconVerticalSolidList"/>
    <dgm:cxn modelId="{06703DEE-BFE4-469C-BBB6-C209C9968956}" srcId="{E6F1D9FA-F5BD-4EA9-83A6-7F66A1A0FD5D}" destId="{C36C0964-DA64-4CE1-968D-476AE0ACFD5B}" srcOrd="1" destOrd="0" parTransId="{44BA6251-90EB-484C-859D-D47F3C993CF2}" sibTransId="{80CEEC5F-6408-4C1D-B7F4-76D01C1BD33E}"/>
    <dgm:cxn modelId="{FE6CF4F1-ED45-4A29-9FAC-C3253CC50FD0}" type="presOf" srcId="{C36C0964-DA64-4CE1-968D-476AE0ACFD5B}" destId="{60C07F80-41F5-4517-8020-0959508EB24E}" srcOrd="0" destOrd="0" presId="urn:microsoft.com/office/officeart/2018/2/layout/IconVerticalSolidList"/>
    <dgm:cxn modelId="{3B165531-8937-471A-B261-39352B3528F6}" type="presParOf" srcId="{14EA2BA9-DBEB-42CC-949D-9DA97197DE94}" destId="{682F5988-B988-4CBC-A2C5-ECAD10258E65}" srcOrd="0" destOrd="0" presId="urn:microsoft.com/office/officeart/2018/2/layout/IconVerticalSolidList"/>
    <dgm:cxn modelId="{D44AB359-0E9D-4F61-AAA5-DA6C862B42DD}" type="presParOf" srcId="{682F5988-B988-4CBC-A2C5-ECAD10258E65}" destId="{B9AD611E-470A-4B40-9A9F-0A7302D2E324}" srcOrd="0" destOrd="0" presId="urn:microsoft.com/office/officeart/2018/2/layout/IconVerticalSolidList"/>
    <dgm:cxn modelId="{6AE28A5A-077B-4843-8F97-B833D31A02E9}" type="presParOf" srcId="{682F5988-B988-4CBC-A2C5-ECAD10258E65}" destId="{7D0A3385-2D78-4F58-A3F1-275FDCCB0AFD}" srcOrd="1" destOrd="0" presId="urn:microsoft.com/office/officeart/2018/2/layout/IconVerticalSolidList"/>
    <dgm:cxn modelId="{DCB1DE32-69E3-4EA2-8982-F5339E5E1E34}" type="presParOf" srcId="{682F5988-B988-4CBC-A2C5-ECAD10258E65}" destId="{F66BF314-73FF-4D60-8DD2-DAD1390F4FB8}" srcOrd="2" destOrd="0" presId="urn:microsoft.com/office/officeart/2018/2/layout/IconVerticalSolidList"/>
    <dgm:cxn modelId="{09B52E3E-3F16-4875-B65B-BCE74153DDE6}" type="presParOf" srcId="{682F5988-B988-4CBC-A2C5-ECAD10258E65}" destId="{38175EEC-C6EB-45D3-9350-BFBD64B301F9}" srcOrd="3" destOrd="0" presId="urn:microsoft.com/office/officeart/2018/2/layout/IconVerticalSolidList"/>
    <dgm:cxn modelId="{0A9E01A4-E3E6-4D9C-A31E-142512838F55}" type="presParOf" srcId="{14EA2BA9-DBEB-42CC-949D-9DA97197DE94}" destId="{D70617D8-6BD2-4F96-9510-F89479E9109E}" srcOrd="1" destOrd="0" presId="urn:microsoft.com/office/officeart/2018/2/layout/IconVerticalSolidList"/>
    <dgm:cxn modelId="{6A77C25E-C4E5-498F-BABC-ADE3BB858D45}" type="presParOf" srcId="{14EA2BA9-DBEB-42CC-949D-9DA97197DE94}" destId="{0B2A5F03-51D9-42E2-8A66-412F39379842}" srcOrd="2" destOrd="0" presId="urn:microsoft.com/office/officeart/2018/2/layout/IconVerticalSolidList"/>
    <dgm:cxn modelId="{D912831C-EE30-46DB-8A87-AFCDA4F4FE23}" type="presParOf" srcId="{0B2A5F03-51D9-42E2-8A66-412F39379842}" destId="{FDF5226D-B11E-478A-B6E7-4B14C61C9E20}" srcOrd="0" destOrd="0" presId="urn:microsoft.com/office/officeart/2018/2/layout/IconVerticalSolidList"/>
    <dgm:cxn modelId="{D4AA5C1B-9807-493C-A82F-BC28E5784AC9}" type="presParOf" srcId="{0B2A5F03-51D9-42E2-8A66-412F39379842}" destId="{D8FE278F-6D63-4D06-8A5E-2B3640B45BCE}" srcOrd="1" destOrd="0" presId="urn:microsoft.com/office/officeart/2018/2/layout/IconVerticalSolidList"/>
    <dgm:cxn modelId="{2BB8254A-ACC9-446F-A156-2EA37BB9883F}" type="presParOf" srcId="{0B2A5F03-51D9-42E2-8A66-412F39379842}" destId="{217084F0-DFD5-49F0-BACD-75564F41DF1F}" srcOrd="2" destOrd="0" presId="urn:microsoft.com/office/officeart/2018/2/layout/IconVerticalSolidList"/>
    <dgm:cxn modelId="{5A2C3132-F12D-4143-9690-81512AC99B08}" type="presParOf" srcId="{0B2A5F03-51D9-42E2-8A66-412F39379842}" destId="{60C07F80-41F5-4517-8020-0959508EB24E}" srcOrd="3" destOrd="0" presId="urn:microsoft.com/office/officeart/2018/2/layout/IconVerticalSolidList"/>
    <dgm:cxn modelId="{83D48684-7913-4E81-A12F-6078A0D99AF1}" type="presParOf" srcId="{14EA2BA9-DBEB-42CC-949D-9DA97197DE94}" destId="{B12DA872-DDEC-4EEB-B7C3-404D54B3E2F5}" srcOrd="3" destOrd="0" presId="urn:microsoft.com/office/officeart/2018/2/layout/IconVerticalSolidList"/>
    <dgm:cxn modelId="{F19F2CB0-E189-41C7-980F-EFC328443916}" type="presParOf" srcId="{14EA2BA9-DBEB-42CC-949D-9DA97197DE94}" destId="{90D238BE-A288-4AAA-9896-9EF373213E1D}" srcOrd="4" destOrd="0" presId="urn:microsoft.com/office/officeart/2018/2/layout/IconVerticalSolidList"/>
    <dgm:cxn modelId="{D37AE5E2-B506-4DCF-858E-4C4AEC78D42D}" type="presParOf" srcId="{90D238BE-A288-4AAA-9896-9EF373213E1D}" destId="{198726FB-526F-4ABE-8553-C710970189F8}" srcOrd="0" destOrd="0" presId="urn:microsoft.com/office/officeart/2018/2/layout/IconVerticalSolidList"/>
    <dgm:cxn modelId="{78BD9D68-C399-45BB-8599-08E83280DCD8}" type="presParOf" srcId="{90D238BE-A288-4AAA-9896-9EF373213E1D}" destId="{FD3DA3F7-859C-4E77-ACE3-E5800C2306A0}" srcOrd="1" destOrd="0" presId="urn:microsoft.com/office/officeart/2018/2/layout/IconVerticalSolidList"/>
    <dgm:cxn modelId="{93155B1C-A1AE-4309-92AE-6F7125049981}" type="presParOf" srcId="{90D238BE-A288-4AAA-9896-9EF373213E1D}" destId="{FA296DC9-0294-4E8C-845C-16B98AACF22D}" srcOrd="2" destOrd="0" presId="urn:microsoft.com/office/officeart/2018/2/layout/IconVerticalSolidList"/>
    <dgm:cxn modelId="{D2E43D66-9EF1-4B2B-9DA1-BB4288B6550C}" type="presParOf" srcId="{90D238BE-A288-4AAA-9896-9EF373213E1D}" destId="{941715D3-8DD3-4689-AA92-D7CB81F0BDEA}" srcOrd="3" destOrd="0" presId="urn:microsoft.com/office/officeart/2018/2/layout/IconVerticalSolidList"/>
    <dgm:cxn modelId="{3E796214-EE84-4F9B-A5F1-7D1BD4D31303}" type="presParOf" srcId="{14EA2BA9-DBEB-42CC-949D-9DA97197DE94}" destId="{BE09B976-5437-4335-9BCF-38BC644A3376}" srcOrd="5" destOrd="0" presId="urn:microsoft.com/office/officeart/2018/2/layout/IconVerticalSolidList"/>
    <dgm:cxn modelId="{63A07AB9-500D-4334-BFDC-2DB7CAABBFAF}" type="presParOf" srcId="{14EA2BA9-DBEB-42CC-949D-9DA97197DE94}" destId="{C93A2493-9EAD-48E3-9CAE-765EB496C246}" srcOrd="6" destOrd="0" presId="urn:microsoft.com/office/officeart/2018/2/layout/IconVerticalSolidList"/>
    <dgm:cxn modelId="{7DC63786-BBF0-4233-83D7-394811DD6C66}" type="presParOf" srcId="{C93A2493-9EAD-48E3-9CAE-765EB496C246}" destId="{CB4A9F74-2DF1-4350-8264-A743E8501CC2}" srcOrd="0" destOrd="0" presId="urn:microsoft.com/office/officeart/2018/2/layout/IconVerticalSolidList"/>
    <dgm:cxn modelId="{05E2B0B5-E5C2-4EF6-B370-9689F6411256}" type="presParOf" srcId="{C93A2493-9EAD-48E3-9CAE-765EB496C246}" destId="{125A8501-B3FF-4CCA-BB31-5CF6AA0FEC9A}" srcOrd="1" destOrd="0" presId="urn:microsoft.com/office/officeart/2018/2/layout/IconVerticalSolidList"/>
    <dgm:cxn modelId="{9669E263-15D3-49B3-A447-863B60F7509C}" type="presParOf" srcId="{C93A2493-9EAD-48E3-9CAE-765EB496C246}" destId="{AEE7CA44-A3BC-4884-8A23-C3261AB6CE8F}" srcOrd="2" destOrd="0" presId="urn:microsoft.com/office/officeart/2018/2/layout/IconVerticalSolidList"/>
    <dgm:cxn modelId="{70CCA6F4-1D2C-4EF1-BBE5-DE2E6FCC76FC}" type="presParOf" srcId="{C93A2493-9EAD-48E3-9CAE-765EB496C246}" destId="{8C36CC56-E1B1-46E0-AE53-777C36F945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C4AA97-0BA8-4892-A4E0-BE9629FC9B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5C06A08-A811-450F-B03B-37E68C4DBCFA}">
      <dgm:prSet/>
      <dgm:spPr/>
      <dgm:t>
        <a:bodyPr/>
        <a:lstStyle/>
        <a:p>
          <a:r>
            <a:rPr lang="en-US"/>
            <a:t>Rear-end collisions were most common on freeways and interstates likely because traffic travels at high speeds and drivers who do not maintain a safe following distance are at risk of rear ending the drivers in front of them.</a:t>
          </a:r>
        </a:p>
      </dgm:t>
    </dgm:pt>
    <dgm:pt modelId="{FB6CA608-1857-4826-A429-8110A896F295}" type="parTrans" cxnId="{726A08D8-3661-4837-91A5-0F14AAC9217A}">
      <dgm:prSet/>
      <dgm:spPr/>
      <dgm:t>
        <a:bodyPr/>
        <a:lstStyle/>
        <a:p>
          <a:endParaRPr lang="en-US"/>
        </a:p>
      </dgm:t>
    </dgm:pt>
    <dgm:pt modelId="{4AC50E65-D7BD-4010-80AB-54975035BE4D}" type="sibTrans" cxnId="{726A08D8-3661-4837-91A5-0F14AAC9217A}">
      <dgm:prSet/>
      <dgm:spPr/>
      <dgm:t>
        <a:bodyPr/>
        <a:lstStyle/>
        <a:p>
          <a:endParaRPr lang="en-US"/>
        </a:p>
      </dgm:t>
    </dgm:pt>
    <dgm:pt modelId="{87EC5936-2A3B-4F76-B7DA-0323E316C472}">
      <dgm:prSet/>
      <dgm:spPr/>
      <dgm:t>
        <a:bodyPr/>
        <a:lstStyle/>
        <a:p>
          <a:r>
            <a:rPr lang="en-US"/>
            <a:t>Unsurprisingly, angle collisions are most commonly found at 4-way intersections. It does not specify if they are at a signalized intersection though.</a:t>
          </a:r>
        </a:p>
      </dgm:t>
    </dgm:pt>
    <dgm:pt modelId="{41612ED9-D5E0-4D26-89D5-BD8C8463E8F6}" type="parTrans" cxnId="{1A4567AC-F80F-4519-A08A-03E56BD24A42}">
      <dgm:prSet/>
      <dgm:spPr/>
      <dgm:t>
        <a:bodyPr/>
        <a:lstStyle/>
        <a:p>
          <a:endParaRPr lang="en-US"/>
        </a:p>
      </dgm:t>
    </dgm:pt>
    <dgm:pt modelId="{8AEB2082-0347-4FA7-A9AC-C34708F5C530}" type="sibTrans" cxnId="{1A4567AC-F80F-4519-A08A-03E56BD24A42}">
      <dgm:prSet/>
      <dgm:spPr/>
      <dgm:t>
        <a:bodyPr/>
        <a:lstStyle/>
        <a:p>
          <a:endParaRPr lang="en-US"/>
        </a:p>
      </dgm:t>
    </dgm:pt>
    <dgm:pt modelId="{2360DE34-E398-4B98-8252-75527E8DB880}">
      <dgm:prSet/>
      <dgm:spPr/>
      <dgm:t>
        <a:bodyPr/>
        <a:lstStyle/>
        <a:p>
          <a:r>
            <a:rPr lang="en-US"/>
            <a:t>Driveway access points are another common location for angle collisions.</a:t>
          </a:r>
        </a:p>
      </dgm:t>
    </dgm:pt>
    <dgm:pt modelId="{2C9F5DAC-D4CC-4E54-B42F-DA5849EBB545}" type="parTrans" cxnId="{2D7484FA-754E-4473-A857-7F7448A92B0A}">
      <dgm:prSet/>
      <dgm:spPr/>
      <dgm:t>
        <a:bodyPr/>
        <a:lstStyle/>
        <a:p>
          <a:endParaRPr lang="en-US"/>
        </a:p>
      </dgm:t>
    </dgm:pt>
    <dgm:pt modelId="{06AA84B6-4C9E-47D8-8EA4-59D9BBAA5BBA}" type="sibTrans" cxnId="{2D7484FA-754E-4473-A857-7F7448A92B0A}">
      <dgm:prSet/>
      <dgm:spPr/>
      <dgm:t>
        <a:bodyPr/>
        <a:lstStyle/>
        <a:p>
          <a:endParaRPr lang="en-US"/>
        </a:p>
      </dgm:t>
    </dgm:pt>
    <dgm:pt modelId="{1674E650-B4EF-4317-AB18-12B099297B41}" type="pres">
      <dgm:prSet presAssocID="{E4C4AA97-0BA8-4892-A4E0-BE9629FC9B5B}" presName="root" presStyleCnt="0">
        <dgm:presLayoutVars>
          <dgm:dir/>
          <dgm:resizeHandles val="exact"/>
        </dgm:presLayoutVars>
      </dgm:prSet>
      <dgm:spPr/>
    </dgm:pt>
    <dgm:pt modelId="{9DBC2E93-A1DA-406B-BFE7-CA045BF6F283}" type="pres">
      <dgm:prSet presAssocID="{55C06A08-A811-450F-B03B-37E68C4DBCFA}" presName="compNode" presStyleCnt="0"/>
      <dgm:spPr/>
    </dgm:pt>
    <dgm:pt modelId="{30F3F4F6-53A2-495B-94D2-B31AA2F749EC}" type="pres">
      <dgm:prSet presAssocID="{55C06A08-A811-450F-B03B-37E68C4DBCFA}" presName="bgRect" presStyleLbl="bgShp" presStyleIdx="0" presStyleCnt="3"/>
      <dgm:spPr/>
    </dgm:pt>
    <dgm:pt modelId="{9A74BC02-8164-40CD-ACA0-D78EE88F35D1}" type="pres">
      <dgm:prSet presAssocID="{55C06A08-A811-450F-B03B-37E68C4DBC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1E1983AB-EF9E-484D-B145-E273E82AA673}" type="pres">
      <dgm:prSet presAssocID="{55C06A08-A811-450F-B03B-37E68C4DBCFA}" presName="spaceRect" presStyleCnt="0"/>
      <dgm:spPr/>
    </dgm:pt>
    <dgm:pt modelId="{87279B93-FDED-4FC3-AAB8-CC51654BEBE2}" type="pres">
      <dgm:prSet presAssocID="{55C06A08-A811-450F-B03B-37E68C4DBCFA}" presName="parTx" presStyleLbl="revTx" presStyleIdx="0" presStyleCnt="3">
        <dgm:presLayoutVars>
          <dgm:chMax val="0"/>
          <dgm:chPref val="0"/>
        </dgm:presLayoutVars>
      </dgm:prSet>
      <dgm:spPr/>
    </dgm:pt>
    <dgm:pt modelId="{C9F7D845-0B02-4132-8793-DAA08BF2ADCE}" type="pres">
      <dgm:prSet presAssocID="{4AC50E65-D7BD-4010-80AB-54975035BE4D}" presName="sibTrans" presStyleCnt="0"/>
      <dgm:spPr/>
    </dgm:pt>
    <dgm:pt modelId="{477EC30B-4841-4B12-82F4-7725B465AEF8}" type="pres">
      <dgm:prSet presAssocID="{87EC5936-2A3B-4F76-B7DA-0323E316C472}" presName="compNode" presStyleCnt="0"/>
      <dgm:spPr/>
    </dgm:pt>
    <dgm:pt modelId="{923830A3-44A6-4AE3-A493-ECC005B473F4}" type="pres">
      <dgm:prSet presAssocID="{87EC5936-2A3B-4F76-B7DA-0323E316C472}" presName="bgRect" presStyleLbl="bgShp" presStyleIdx="1" presStyleCnt="3"/>
      <dgm:spPr/>
    </dgm:pt>
    <dgm:pt modelId="{4E00986B-832E-49B1-84D4-CF8F4F81927B}" type="pres">
      <dgm:prSet presAssocID="{87EC5936-2A3B-4F76-B7DA-0323E316C4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287CA522-7F13-41DC-A702-BE15E335E718}" type="pres">
      <dgm:prSet presAssocID="{87EC5936-2A3B-4F76-B7DA-0323E316C472}" presName="spaceRect" presStyleCnt="0"/>
      <dgm:spPr/>
    </dgm:pt>
    <dgm:pt modelId="{A92947F8-78AB-4191-806A-036A1AFB714A}" type="pres">
      <dgm:prSet presAssocID="{87EC5936-2A3B-4F76-B7DA-0323E316C472}" presName="parTx" presStyleLbl="revTx" presStyleIdx="1" presStyleCnt="3">
        <dgm:presLayoutVars>
          <dgm:chMax val="0"/>
          <dgm:chPref val="0"/>
        </dgm:presLayoutVars>
      </dgm:prSet>
      <dgm:spPr/>
    </dgm:pt>
    <dgm:pt modelId="{1D151511-9669-4891-B27E-B6D0245548C3}" type="pres">
      <dgm:prSet presAssocID="{8AEB2082-0347-4FA7-A9AC-C34708F5C530}" presName="sibTrans" presStyleCnt="0"/>
      <dgm:spPr/>
    </dgm:pt>
    <dgm:pt modelId="{AC1F3B45-8323-4355-A6BB-4B23D8DAA165}" type="pres">
      <dgm:prSet presAssocID="{2360DE34-E398-4B98-8252-75527E8DB880}" presName="compNode" presStyleCnt="0"/>
      <dgm:spPr/>
    </dgm:pt>
    <dgm:pt modelId="{BA6112D6-D3DA-447A-9290-1F6FE5ECAF7B}" type="pres">
      <dgm:prSet presAssocID="{2360DE34-E398-4B98-8252-75527E8DB880}" presName="bgRect" presStyleLbl="bgShp" presStyleIdx="2" presStyleCnt="3"/>
      <dgm:spPr/>
    </dgm:pt>
    <dgm:pt modelId="{6B9FB04D-3846-4CBC-AEC3-E63477387367}" type="pres">
      <dgm:prSet presAssocID="{2360DE34-E398-4B98-8252-75527E8DB8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C72E2688-502B-4680-8E8B-2F2881A2491A}" type="pres">
      <dgm:prSet presAssocID="{2360DE34-E398-4B98-8252-75527E8DB880}" presName="spaceRect" presStyleCnt="0"/>
      <dgm:spPr/>
    </dgm:pt>
    <dgm:pt modelId="{6531FF5E-6273-4D83-B86A-88E8527DEA9A}" type="pres">
      <dgm:prSet presAssocID="{2360DE34-E398-4B98-8252-75527E8DB88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6ECC396-184D-48F0-BBF8-218354FA01F3}" type="presOf" srcId="{2360DE34-E398-4B98-8252-75527E8DB880}" destId="{6531FF5E-6273-4D83-B86A-88E8527DEA9A}" srcOrd="0" destOrd="0" presId="urn:microsoft.com/office/officeart/2018/2/layout/IconVerticalSolidList"/>
    <dgm:cxn modelId="{C77A9299-D37F-4F3C-9D59-3C00A2EFF93E}" type="presOf" srcId="{87EC5936-2A3B-4F76-B7DA-0323E316C472}" destId="{A92947F8-78AB-4191-806A-036A1AFB714A}" srcOrd="0" destOrd="0" presId="urn:microsoft.com/office/officeart/2018/2/layout/IconVerticalSolidList"/>
    <dgm:cxn modelId="{1A4567AC-F80F-4519-A08A-03E56BD24A42}" srcId="{E4C4AA97-0BA8-4892-A4E0-BE9629FC9B5B}" destId="{87EC5936-2A3B-4F76-B7DA-0323E316C472}" srcOrd="1" destOrd="0" parTransId="{41612ED9-D5E0-4D26-89D5-BD8C8463E8F6}" sibTransId="{8AEB2082-0347-4FA7-A9AC-C34708F5C530}"/>
    <dgm:cxn modelId="{4B373CBB-581A-465C-83AC-AC5AA5F23041}" type="presOf" srcId="{E4C4AA97-0BA8-4892-A4E0-BE9629FC9B5B}" destId="{1674E650-B4EF-4317-AB18-12B099297B41}" srcOrd="0" destOrd="0" presId="urn:microsoft.com/office/officeart/2018/2/layout/IconVerticalSolidList"/>
    <dgm:cxn modelId="{726A08D8-3661-4837-91A5-0F14AAC9217A}" srcId="{E4C4AA97-0BA8-4892-A4E0-BE9629FC9B5B}" destId="{55C06A08-A811-450F-B03B-37E68C4DBCFA}" srcOrd="0" destOrd="0" parTransId="{FB6CA608-1857-4826-A429-8110A896F295}" sibTransId="{4AC50E65-D7BD-4010-80AB-54975035BE4D}"/>
    <dgm:cxn modelId="{B700DDE8-011B-46F1-8B17-E01DDDA1ED5C}" type="presOf" srcId="{55C06A08-A811-450F-B03B-37E68C4DBCFA}" destId="{87279B93-FDED-4FC3-AAB8-CC51654BEBE2}" srcOrd="0" destOrd="0" presId="urn:microsoft.com/office/officeart/2018/2/layout/IconVerticalSolidList"/>
    <dgm:cxn modelId="{2D7484FA-754E-4473-A857-7F7448A92B0A}" srcId="{E4C4AA97-0BA8-4892-A4E0-BE9629FC9B5B}" destId="{2360DE34-E398-4B98-8252-75527E8DB880}" srcOrd="2" destOrd="0" parTransId="{2C9F5DAC-D4CC-4E54-B42F-DA5849EBB545}" sibTransId="{06AA84B6-4C9E-47D8-8EA4-59D9BBAA5BBA}"/>
    <dgm:cxn modelId="{F02135C8-8396-411A-9F53-A9A3F81BF8C8}" type="presParOf" srcId="{1674E650-B4EF-4317-AB18-12B099297B41}" destId="{9DBC2E93-A1DA-406B-BFE7-CA045BF6F283}" srcOrd="0" destOrd="0" presId="urn:microsoft.com/office/officeart/2018/2/layout/IconVerticalSolidList"/>
    <dgm:cxn modelId="{2CBBB6CF-DC05-4976-9CD4-ED00C5A12191}" type="presParOf" srcId="{9DBC2E93-A1DA-406B-BFE7-CA045BF6F283}" destId="{30F3F4F6-53A2-495B-94D2-B31AA2F749EC}" srcOrd="0" destOrd="0" presId="urn:microsoft.com/office/officeart/2018/2/layout/IconVerticalSolidList"/>
    <dgm:cxn modelId="{7853B152-D9F9-4F95-A170-509411313B58}" type="presParOf" srcId="{9DBC2E93-A1DA-406B-BFE7-CA045BF6F283}" destId="{9A74BC02-8164-40CD-ACA0-D78EE88F35D1}" srcOrd="1" destOrd="0" presId="urn:microsoft.com/office/officeart/2018/2/layout/IconVerticalSolidList"/>
    <dgm:cxn modelId="{DAE027FC-F76A-4420-A9BF-EFA42992BD8E}" type="presParOf" srcId="{9DBC2E93-A1DA-406B-BFE7-CA045BF6F283}" destId="{1E1983AB-EF9E-484D-B145-E273E82AA673}" srcOrd="2" destOrd="0" presId="urn:microsoft.com/office/officeart/2018/2/layout/IconVerticalSolidList"/>
    <dgm:cxn modelId="{9A1E408F-F88C-4DAB-8C50-47E667C761AE}" type="presParOf" srcId="{9DBC2E93-A1DA-406B-BFE7-CA045BF6F283}" destId="{87279B93-FDED-4FC3-AAB8-CC51654BEBE2}" srcOrd="3" destOrd="0" presId="urn:microsoft.com/office/officeart/2018/2/layout/IconVerticalSolidList"/>
    <dgm:cxn modelId="{95F3DD37-F763-4F00-BD3E-B3C6CF34B09D}" type="presParOf" srcId="{1674E650-B4EF-4317-AB18-12B099297B41}" destId="{C9F7D845-0B02-4132-8793-DAA08BF2ADCE}" srcOrd="1" destOrd="0" presId="urn:microsoft.com/office/officeart/2018/2/layout/IconVerticalSolidList"/>
    <dgm:cxn modelId="{1B28A87C-822A-49CE-AEDC-0A29E11E03E4}" type="presParOf" srcId="{1674E650-B4EF-4317-AB18-12B099297B41}" destId="{477EC30B-4841-4B12-82F4-7725B465AEF8}" srcOrd="2" destOrd="0" presId="urn:microsoft.com/office/officeart/2018/2/layout/IconVerticalSolidList"/>
    <dgm:cxn modelId="{84849393-F539-4FA8-9FC4-1264F79474C4}" type="presParOf" srcId="{477EC30B-4841-4B12-82F4-7725B465AEF8}" destId="{923830A3-44A6-4AE3-A493-ECC005B473F4}" srcOrd="0" destOrd="0" presId="urn:microsoft.com/office/officeart/2018/2/layout/IconVerticalSolidList"/>
    <dgm:cxn modelId="{7B7C1513-8DC6-4AD6-A3E6-5CD5C2DB15E8}" type="presParOf" srcId="{477EC30B-4841-4B12-82F4-7725B465AEF8}" destId="{4E00986B-832E-49B1-84D4-CF8F4F81927B}" srcOrd="1" destOrd="0" presId="urn:microsoft.com/office/officeart/2018/2/layout/IconVerticalSolidList"/>
    <dgm:cxn modelId="{87B25F2E-EBDD-400A-8852-C51E3F8DAC06}" type="presParOf" srcId="{477EC30B-4841-4B12-82F4-7725B465AEF8}" destId="{287CA522-7F13-41DC-A702-BE15E335E718}" srcOrd="2" destOrd="0" presId="urn:microsoft.com/office/officeart/2018/2/layout/IconVerticalSolidList"/>
    <dgm:cxn modelId="{2DFF972E-A379-476B-92E3-785F88E1C414}" type="presParOf" srcId="{477EC30B-4841-4B12-82F4-7725B465AEF8}" destId="{A92947F8-78AB-4191-806A-036A1AFB714A}" srcOrd="3" destOrd="0" presId="urn:microsoft.com/office/officeart/2018/2/layout/IconVerticalSolidList"/>
    <dgm:cxn modelId="{70D72EE3-193D-43F3-8D39-8AAF1FE4065E}" type="presParOf" srcId="{1674E650-B4EF-4317-AB18-12B099297B41}" destId="{1D151511-9669-4891-B27E-B6D0245548C3}" srcOrd="3" destOrd="0" presId="urn:microsoft.com/office/officeart/2018/2/layout/IconVerticalSolidList"/>
    <dgm:cxn modelId="{797F645B-1328-4C8D-BED7-624E10096451}" type="presParOf" srcId="{1674E650-B4EF-4317-AB18-12B099297B41}" destId="{AC1F3B45-8323-4355-A6BB-4B23D8DAA165}" srcOrd="4" destOrd="0" presId="urn:microsoft.com/office/officeart/2018/2/layout/IconVerticalSolidList"/>
    <dgm:cxn modelId="{85F3C1BD-F793-4BFF-B096-8E53CA32FA22}" type="presParOf" srcId="{AC1F3B45-8323-4355-A6BB-4B23D8DAA165}" destId="{BA6112D6-D3DA-447A-9290-1F6FE5ECAF7B}" srcOrd="0" destOrd="0" presId="urn:microsoft.com/office/officeart/2018/2/layout/IconVerticalSolidList"/>
    <dgm:cxn modelId="{0A45EEE5-8F4F-406C-ADB9-020DAAD96DEE}" type="presParOf" srcId="{AC1F3B45-8323-4355-A6BB-4B23D8DAA165}" destId="{6B9FB04D-3846-4CBC-AEC3-E63477387367}" srcOrd="1" destOrd="0" presId="urn:microsoft.com/office/officeart/2018/2/layout/IconVerticalSolidList"/>
    <dgm:cxn modelId="{532CA03E-64BD-492B-B597-59EAEF6B3516}" type="presParOf" srcId="{AC1F3B45-8323-4355-A6BB-4B23D8DAA165}" destId="{C72E2688-502B-4680-8E8B-2F2881A2491A}" srcOrd="2" destOrd="0" presId="urn:microsoft.com/office/officeart/2018/2/layout/IconVerticalSolidList"/>
    <dgm:cxn modelId="{1F6A2154-7218-470E-AEF8-4561212A929E}" type="presParOf" srcId="{AC1F3B45-8323-4355-A6BB-4B23D8DAA165}" destId="{6531FF5E-6273-4D83-B86A-88E8527DEA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D611E-470A-4B40-9A9F-0A7302D2E324}">
      <dsp:nvSpPr>
        <dsp:cNvPr id="0" name=""/>
        <dsp:cNvSpPr/>
      </dsp:nvSpPr>
      <dsp:spPr>
        <a:xfrm>
          <a:off x="0" y="2178"/>
          <a:ext cx="5914209" cy="11040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A3385-2D78-4F58-A3F1-275FDCCB0AFD}">
      <dsp:nvSpPr>
        <dsp:cNvPr id="0" name=""/>
        <dsp:cNvSpPr/>
      </dsp:nvSpPr>
      <dsp:spPr>
        <a:xfrm>
          <a:off x="333979" y="250592"/>
          <a:ext cx="607234" cy="6072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75EEC-C6EB-45D3-9350-BFBD64B301F9}">
      <dsp:nvSpPr>
        <dsp:cNvPr id="0" name=""/>
        <dsp:cNvSpPr/>
      </dsp:nvSpPr>
      <dsp:spPr>
        <a:xfrm>
          <a:off x="1275192" y="2178"/>
          <a:ext cx="4639016" cy="1104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47" tIns="116847" rIns="116847" bIns="1168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There were roughly 38,700 rows and 70 columns where many of the columns were discrete versions of the categorical variable columns next to it.</a:t>
          </a:r>
        </a:p>
      </dsp:txBody>
      <dsp:txXfrm>
        <a:off x="1275192" y="2178"/>
        <a:ext cx="4639016" cy="1104063"/>
      </dsp:txXfrm>
    </dsp:sp>
    <dsp:sp modelId="{FDF5226D-B11E-478A-B6E7-4B14C61C9E20}">
      <dsp:nvSpPr>
        <dsp:cNvPr id="0" name=""/>
        <dsp:cNvSpPr/>
      </dsp:nvSpPr>
      <dsp:spPr>
        <a:xfrm>
          <a:off x="0" y="1382257"/>
          <a:ext cx="5914209" cy="11040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E278F-6D63-4D06-8A5E-2B3640B45BCE}">
      <dsp:nvSpPr>
        <dsp:cNvPr id="0" name=""/>
        <dsp:cNvSpPr/>
      </dsp:nvSpPr>
      <dsp:spPr>
        <a:xfrm>
          <a:off x="333979" y="1630671"/>
          <a:ext cx="607234" cy="6072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07F80-41F5-4517-8020-0959508EB24E}">
      <dsp:nvSpPr>
        <dsp:cNvPr id="0" name=""/>
        <dsp:cNvSpPr/>
      </dsp:nvSpPr>
      <dsp:spPr>
        <a:xfrm>
          <a:off x="1275192" y="1382257"/>
          <a:ext cx="4639016" cy="1104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47" tIns="116847" rIns="116847" bIns="1168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There were 9 continuous variables and around 30 unique discrete or continuous variables.</a:t>
          </a:r>
        </a:p>
      </dsp:txBody>
      <dsp:txXfrm>
        <a:off x="1275192" y="1382257"/>
        <a:ext cx="4639016" cy="1104063"/>
      </dsp:txXfrm>
    </dsp:sp>
    <dsp:sp modelId="{198726FB-526F-4ABE-8553-C710970189F8}">
      <dsp:nvSpPr>
        <dsp:cNvPr id="0" name=""/>
        <dsp:cNvSpPr/>
      </dsp:nvSpPr>
      <dsp:spPr>
        <a:xfrm>
          <a:off x="0" y="2762336"/>
          <a:ext cx="5914209" cy="11040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DA3F7-859C-4E77-ACE3-E5800C2306A0}">
      <dsp:nvSpPr>
        <dsp:cNvPr id="0" name=""/>
        <dsp:cNvSpPr/>
      </dsp:nvSpPr>
      <dsp:spPr>
        <a:xfrm>
          <a:off x="333979" y="3010750"/>
          <a:ext cx="607234" cy="6072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715D3-8DD3-4689-AA92-D7CB81F0BDEA}">
      <dsp:nvSpPr>
        <dsp:cNvPr id="0" name=""/>
        <dsp:cNvSpPr/>
      </dsp:nvSpPr>
      <dsp:spPr>
        <a:xfrm>
          <a:off x="1275192" y="2762336"/>
          <a:ext cx="4639016" cy="1104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47" tIns="116847" rIns="116847" bIns="1168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</a:t>
          </a:r>
          <a:r>
            <a:rPr lang="en-US" sz="1700" kern="1200" baseline="0" dirty="0"/>
            <a:t> the collision to be included in the dataset, there must have been at least one death that was a direct result of the collision.</a:t>
          </a:r>
          <a:endParaRPr lang="en-US" sz="1700" kern="1200" dirty="0"/>
        </a:p>
      </dsp:txBody>
      <dsp:txXfrm>
        <a:off x="1275192" y="2762336"/>
        <a:ext cx="4639016" cy="1104063"/>
      </dsp:txXfrm>
    </dsp:sp>
    <dsp:sp modelId="{CB4A9F74-2DF1-4350-8264-A743E8501CC2}">
      <dsp:nvSpPr>
        <dsp:cNvPr id="0" name=""/>
        <dsp:cNvSpPr/>
      </dsp:nvSpPr>
      <dsp:spPr>
        <a:xfrm>
          <a:off x="0" y="4142415"/>
          <a:ext cx="5914209" cy="11040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A8501-B3FF-4CCA-BB31-5CF6AA0FEC9A}">
      <dsp:nvSpPr>
        <dsp:cNvPr id="0" name=""/>
        <dsp:cNvSpPr/>
      </dsp:nvSpPr>
      <dsp:spPr>
        <a:xfrm>
          <a:off x="333979" y="4390829"/>
          <a:ext cx="607234" cy="6072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6CC56-E1B1-46E0-AE53-777C36F9456E}">
      <dsp:nvSpPr>
        <dsp:cNvPr id="0" name=""/>
        <dsp:cNvSpPr/>
      </dsp:nvSpPr>
      <dsp:spPr>
        <a:xfrm>
          <a:off x="1275192" y="4142415"/>
          <a:ext cx="4639016" cy="1104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47" tIns="116847" rIns="116847" bIns="1168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All 50 states including Alaska and Hawaii were included in the dataset. Pedestrians that were struck and killed were also included in the dataset</a:t>
          </a:r>
        </a:p>
      </dsp:txBody>
      <dsp:txXfrm>
        <a:off x="1275192" y="4142415"/>
        <a:ext cx="4639016" cy="11040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3F4F6-53A2-495B-94D2-B31AA2F749EC}">
      <dsp:nvSpPr>
        <dsp:cNvPr id="0" name=""/>
        <dsp:cNvSpPr/>
      </dsp:nvSpPr>
      <dsp:spPr>
        <a:xfrm>
          <a:off x="0" y="640"/>
          <a:ext cx="5914209" cy="14992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4BC02-8164-40CD-ACA0-D78EE88F35D1}">
      <dsp:nvSpPr>
        <dsp:cNvPr id="0" name=""/>
        <dsp:cNvSpPr/>
      </dsp:nvSpPr>
      <dsp:spPr>
        <a:xfrm>
          <a:off x="453523" y="337971"/>
          <a:ext cx="824587" cy="824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79B93-FDED-4FC3-AAB8-CC51654BEBE2}">
      <dsp:nvSpPr>
        <dsp:cNvPr id="0" name=""/>
        <dsp:cNvSpPr/>
      </dsp:nvSpPr>
      <dsp:spPr>
        <a:xfrm>
          <a:off x="1731633" y="640"/>
          <a:ext cx="4182575" cy="149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71" tIns="158671" rIns="158671" bIns="15867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Rear-end collisions were most common on freeways and interstates likely because traffic travels at high speeds and drivers who do not maintain a safe following distance are at risk of rear ending the drivers in front of them.</a:t>
          </a:r>
        </a:p>
      </dsp:txBody>
      <dsp:txXfrm>
        <a:off x="1731633" y="640"/>
        <a:ext cx="4182575" cy="1499250"/>
      </dsp:txXfrm>
    </dsp:sp>
    <dsp:sp modelId="{923830A3-44A6-4AE3-A493-ECC005B473F4}">
      <dsp:nvSpPr>
        <dsp:cNvPr id="0" name=""/>
        <dsp:cNvSpPr/>
      </dsp:nvSpPr>
      <dsp:spPr>
        <a:xfrm>
          <a:off x="0" y="1874703"/>
          <a:ext cx="5914209" cy="14992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0986B-832E-49B1-84D4-CF8F4F81927B}">
      <dsp:nvSpPr>
        <dsp:cNvPr id="0" name=""/>
        <dsp:cNvSpPr/>
      </dsp:nvSpPr>
      <dsp:spPr>
        <a:xfrm>
          <a:off x="453523" y="2212034"/>
          <a:ext cx="824587" cy="824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947F8-78AB-4191-806A-036A1AFB714A}">
      <dsp:nvSpPr>
        <dsp:cNvPr id="0" name=""/>
        <dsp:cNvSpPr/>
      </dsp:nvSpPr>
      <dsp:spPr>
        <a:xfrm>
          <a:off x="1731633" y="1874703"/>
          <a:ext cx="4182575" cy="149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71" tIns="158671" rIns="158671" bIns="15867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Unsurprisingly, angle collisions are most commonly found at 4-way intersections. It does not specify if they are at a signalized intersection though.</a:t>
          </a:r>
        </a:p>
      </dsp:txBody>
      <dsp:txXfrm>
        <a:off x="1731633" y="1874703"/>
        <a:ext cx="4182575" cy="1499250"/>
      </dsp:txXfrm>
    </dsp:sp>
    <dsp:sp modelId="{BA6112D6-D3DA-447A-9290-1F6FE5ECAF7B}">
      <dsp:nvSpPr>
        <dsp:cNvPr id="0" name=""/>
        <dsp:cNvSpPr/>
      </dsp:nvSpPr>
      <dsp:spPr>
        <a:xfrm>
          <a:off x="0" y="3748766"/>
          <a:ext cx="5914209" cy="14992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FB04D-3846-4CBC-AEC3-E63477387367}">
      <dsp:nvSpPr>
        <dsp:cNvPr id="0" name=""/>
        <dsp:cNvSpPr/>
      </dsp:nvSpPr>
      <dsp:spPr>
        <a:xfrm>
          <a:off x="453523" y="4086097"/>
          <a:ext cx="824587" cy="824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1FF5E-6273-4D83-B86A-88E8527DEA9A}">
      <dsp:nvSpPr>
        <dsp:cNvPr id="0" name=""/>
        <dsp:cNvSpPr/>
      </dsp:nvSpPr>
      <dsp:spPr>
        <a:xfrm>
          <a:off x="1731633" y="3748766"/>
          <a:ext cx="4182575" cy="149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71" tIns="158671" rIns="158671" bIns="15867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Driveway access points are another common location for angle collisions.</a:t>
          </a:r>
        </a:p>
      </dsp:txBody>
      <dsp:txXfrm>
        <a:off x="1731633" y="3748766"/>
        <a:ext cx="4182575" cy="1499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043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93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05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09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69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05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6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40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28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8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595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655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14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75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947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15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46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14F7DB2-2747-44B1-8CCD-EA4CF6EAB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274392-2BAA-4EFD-A7A4-941ABF7B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E9F97B-B428-4C46-8004-BC4A40DEF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C42F04-DEA1-45C3-9F84-8B1652F9C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860151-6D39-4EDD-99B8-908690A0D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02D87C-1E23-4B24-AFE6-A85743C72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108" y="954756"/>
            <a:ext cx="2730414" cy="49460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Analyzing Motor Vehicle Collision Types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0934" y="469900"/>
            <a:ext cx="5953630" cy="54059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495 Data Science Capstone</a:t>
            </a:r>
          </a:p>
          <a:p>
            <a:pPr algn="l"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 Project Presentation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buFont typeface="Arial"/>
              <a:buChar char="•"/>
            </a:pPr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Student Name: Brendan Bloss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Professor: John Cook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4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Data Analysis Project Description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6123940"/>
          </a:xfrm>
        </p:spPr>
        <p:txBody>
          <a:bodyPr anchor="ctr">
            <a:normAutofit/>
          </a:bodyPr>
          <a:lstStyle/>
          <a:p>
            <a:r>
              <a:rPr lang="en-US" dirty="0"/>
              <a:t>This dataset gives in depth details on motor vehicle collisions resulting in at least one fatality.</a:t>
            </a:r>
          </a:p>
          <a:p>
            <a:r>
              <a:rPr lang="en-US" dirty="0"/>
              <a:t>The goal with this project is to find the key variables that have the biggest influence in motor vehicle collisions that result in at least one fatality.</a:t>
            </a:r>
          </a:p>
          <a:p>
            <a:r>
              <a:rPr lang="en-US" dirty="0"/>
              <a:t>A decision tree model and Naïve Bayes model will be developed to classify each collision into a category (collision type).</a:t>
            </a:r>
          </a:p>
          <a:p>
            <a:r>
              <a:rPr lang="en-US" dirty="0"/>
              <a:t>In this project, the goal is to classify each collision into a specific collision type (angle, head-on, rear-end, no collision with vehicle in transport…) so the main contributing factors of each collision type are known.</a:t>
            </a:r>
          </a:p>
        </p:txBody>
      </p:sp>
    </p:spTree>
    <p:extLst>
      <p:ext uri="{BB962C8B-B14F-4D97-AF65-F5344CB8AC3E}">
        <p14:creationId xmlns:p14="http://schemas.microsoft.com/office/powerpoint/2010/main" val="271564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03170"/>
            <a:ext cx="9601196" cy="36918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Contains data collected by the NHTSA on motor vehicle collisions that resulted in at least one death from the year 2022 in the United States.</a:t>
            </a:r>
          </a:p>
          <a:p>
            <a:r>
              <a:rPr lang="en-US" dirty="0"/>
              <a:t>Includes location data such as latitude/longitude, state, county, and city (if applicable).</a:t>
            </a:r>
          </a:p>
          <a:p>
            <a:r>
              <a:rPr lang="en-US" dirty="0"/>
              <a:t>Includes time data such as month, day, hour, exact minute, and EMS arrival time.</a:t>
            </a:r>
          </a:p>
          <a:p>
            <a:r>
              <a:rPr lang="en-US" dirty="0"/>
              <a:t>Variables that describe the actual collision include weather conditions, light conditions, collision type, what the vehicle struck, road function, and intersection type.</a:t>
            </a:r>
          </a:p>
          <a:p>
            <a:r>
              <a:rPr lang="en-US" dirty="0"/>
              <a:t>The main continuous variables include vehicle total, total number of persons involved, number of pedestrians involved, and total number of fatalities.</a:t>
            </a:r>
          </a:p>
        </p:txBody>
      </p:sp>
    </p:spTree>
    <p:extLst>
      <p:ext uri="{BB962C8B-B14F-4D97-AF65-F5344CB8AC3E}">
        <p14:creationId xmlns:p14="http://schemas.microsoft.com/office/powerpoint/2010/main" val="160090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Describe the Data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F48500-29A5-D77E-BDBD-E2688FDE8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378309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38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140" y="708660"/>
            <a:ext cx="2835464" cy="845820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141" y="1653539"/>
            <a:ext cx="2835464" cy="4328972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262626"/>
                </a:solidFill>
              </a:rPr>
              <a:t>The most common collision type at 4-way intersections and T-intersections were angle collisions.</a:t>
            </a:r>
          </a:p>
          <a:p>
            <a:r>
              <a:rPr lang="en-US" sz="1800" dirty="0">
                <a:solidFill>
                  <a:srgbClr val="262626"/>
                </a:solidFill>
              </a:rPr>
              <a:t>Roundabouts and L-intersections are the safest intersection type but are far less common than 4-way intersections and T-intersections.</a:t>
            </a:r>
          </a:p>
          <a:p>
            <a:r>
              <a:rPr lang="en-US" sz="1800" dirty="0">
                <a:solidFill>
                  <a:srgbClr val="262626"/>
                </a:solidFill>
              </a:rPr>
              <a:t>4-way intersections are the most dangerous intersection type because they have a lot of conflict points and a high potential for angle collisions.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782CAC-F19E-08D4-05DB-C44CA295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276" y="1554481"/>
            <a:ext cx="7004810" cy="3817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A03CB-60D4-D594-9A17-AABB3A721F72}"/>
              </a:ext>
            </a:extLst>
          </p:cNvPr>
          <p:cNvSpPr txBox="1"/>
          <p:nvPr/>
        </p:nvSpPr>
        <p:spPr>
          <a:xfrm>
            <a:off x="5092276" y="5598160"/>
            <a:ext cx="649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Conflict points are where vehicles cross paths, merge, or diverge.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005FC9-C490-4154-45AA-787AF448A0E6}"/>
              </a:ext>
            </a:extLst>
          </p:cNvPr>
          <p:cNvCxnSpPr/>
          <p:nvPr/>
        </p:nvCxnSpPr>
        <p:spPr>
          <a:xfrm>
            <a:off x="3647440" y="5372101"/>
            <a:ext cx="1330960" cy="3784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85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1936F-34DD-7391-063D-EA9EAB7F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1C0D5E-90FB-C2FC-E7AD-EC13F672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563532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Visualization #2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graph showing the number of cars&#10;&#10;AI-generated content may be incorrect.">
            <a:extLst>
              <a:ext uri="{FF2B5EF4-FFF2-40B4-BE49-F238E27FC236}">
                <a16:creationId xmlns:a16="http://schemas.microsoft.com/office/drawing/2014/main" id="{83E29442-B1EC-017F-E4A3-8CE6317CD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683" y="1927525"/>
            <a:ext cx="5278777" cy="2824145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4B23-9706-C01A-9F00-F2607F0F8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398853"/>
            <a:ext cx="3360771" cy="3659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Principal and minor arterial routes have the most collisions with at least one fatality. 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Minor collectors and principal arterial freeways have the lowest count of collisions with at least one fatality. 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Angle collisions were the most common collision type on all road functions except for interstate and principal arterial freeways.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Rear-end collisions were the most common collision type on freeways and interstates.</a:t>
            </a:r>
          </a:p>
        </p:txBody>
      </p:sp>
    </p:spTree>
    <p:extLst>
      <p:ext uri="{BB962C8B-B14F-4D97-AF65-F5344CB8AC3E}">
        <p14:creationId xmlns:p14="http://schemas.microsoft.com/office/powerpoint/2010/main" val="290715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rgbClr val="262626"/>
                </a:solidFill>
              </a:rPr>
              <a:t>Decision Tree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flowchart&#10;&#10;AI-generated content may be incorrect.">
            <a:extLst>
              <a:ext uri="{FF2B5EF4-FFF2-40B4-BE49-F238E27FC236}">
                <a16:creationId xmlns:a16="http://schemas.microsoft.com/office/drawing/2014/main" id="{32FFCEC6-D5BD-4271-9E5E-640A4E3A3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683" y="2521388"/>
            <a:ext cx="5278777" cy="1636420"/>
          </a:xfrm>
          <a:prstGeom prst="rect">
            <a:avLst/>
          </a:prstGeom>
          <a:noFill/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330674-5F63-47DE-E75D-038EDAB2A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1"/>
            <a:ext cx="3360771" cy="3691465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Predicts each collision type for each collision. </a:t>
            </a:r>
          </a:p>
          <a:p>
            <a:r>
              <a:rPr lang="en-US" dirty="0">
                <a:solidFill>
                  <a:srgbClr val="262626"/>
                </a:solidFill>
              </a:rPr>
              <a:t>80/20 train test split. </a:t>
            </a:r>
          </a:p>
          <a:p>
            <a:r>
              <a:rPr lang="en-US" dirty="0">
                <a:solidFill>
                  <a:srgbClr val="262626"/>
                </a:solidFill>
              </a:rPr>
              <a:t>The root node was harm event = motor vehicle in transport.</a:t>
            </a:r>
          </a:p>
          <a:p>
            <a:r>
              <a:rPr lang="en-US" dirty="0">
                <a:solidFill>
                  <a:srgbClr val="262626"/>
                </a:solidFill>
              </a:rPr>
              <a:t>This model can be used to help reduce the number of specific collision types if we know the common factors for each collision type.</a:t>
            </a:r>
          </a:p>
        </p:txBody>
      </p:sp>
    </p:spTree>
    <p:extLst>
      <p:ext uri="{BB962C8B-B14F-4D97-AF65-F5344CB8AC3E}">
        <p14:creationId xmlns:p14="http://schemas.microsoft.com/office/powerpoint/2010/main" val="311691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7CE92-03CD-A4C0-DD04-8105BDDE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Decision Tree Model (Cont.)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FF893F-ECF9-B3B1-D331-5E5E5EE3D1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43882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832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0C888-1C97-0135-83BD-45177F9A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59836-2C87-44C3-0D2F-EBAB4048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609598"/>
            <a:ext cx="2835464" cy="979172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Naïve Bayes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46A64-7684-D469-DA4F-C6E831DD1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1702278"/>
            <a:ext cx="2835464" cy="43899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</a:rPr>
              <a:t>Classifies each collision into a specific collision type.</a:t>
            </a:r>
          </a:p>
          <a:p>
            <a:r>
              <a:rPr lang="en-US" sz="1600" dirty="0">
                <a:solidFill>
                  <a:srgbClr val="262626"/>
                </a:solidFill>
              </a:rPr>
              <a:t>Predicted “no collision with another vehicle in transport” with 100% accuracy.</a:t>
            </a:r>
          </a:p>
          <a:p>
            <a:r>
              <a:rPr lang="en-US" sz="1600" dirty="0">
                <a:solidFill>
                  <a:srgbClr val="262626"/>
                </a:solidFill>
              </a:rPr>
              <a:t>Was unable to predict collision types with little representation in the dataset such as rear-to-side and sideswipe. </a:t>
            </a:r>
          </a:p>
          <a:p>
            <a:r>
              <a:rPr lang="en-US" sz="1600" dirty="0">
                <a:solidFill>
                  <a:srgbClr val="262626"/>
                </a:solidFill>
              </a:rPr>
              <a:t>There were a lot of false positives for angle collisions (0) and head on collisions (1).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hart with numbers and a yellow box&#10;&#10;AI-generated content may be incorrect.">
            <a:extLst>
              <a:ext uri="{FF2B5EF4-FFF2-40B4-BE49-F238E27FC236}">
                <a16:creationId xmlns:a16="http://schemas.microsoft.com/office/drawing/2014/main" id="{95D8CA4B-F81E-7E31-C97E-80B68F346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5910" y="842299"/>
            <a:ext cx="6098041" cy="5122354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88664-EE52-B395-FE99-21BBDC492ECB}"/>
              </a:ext>
            </a:extLst>
          </p:cNvPr>
          <p:cNvSpPr txBox="1"/>
          <p:nvPr/>
        </p:nvSpPr>
        <p:spPr>
          <a:xfrm>
            <a:off x="5432862" y="5963886"/>
            <a:ext cx="5750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</a:t>
            </a:r>
            <a:r>
              <a:rPr lang="en-US" sz="1600" dirty="0"/>
              <a:t> = angle collision, </a:t>
            </a:r>
            <a:r>
              <a:rPr lang="en-US" sz="1600" b="1" dirty="0"/>
              <a:t>1</a:t>
            </a:r>
            <a:r>
              <a:rPr lang="en-US" sz="1600" dirty="0"/>
              <a:t> = head-on collision, </a:t>
            </a:r>
            <a:r>
              <a:rPr lang="en-US" sz="1600" b="1" dirty="0"/>
              <a:t>2</a:t>
            </a:r>
            <a:r>
              <a:rPr lang="en-US" sz="1600" dirty="0"/>
              <a:t> = rear-end collision, </a:t>
            </a:r>
            <a:r>
              <a:rPr lang="en-US" sz="1600" b="1" dirty="0"/>
              <a:t>3</a:t>
            </a:r>
            <a:r>
              <a:rPr lang="en-US" sz="1600" dirty="0"/>
              <a:t> = rear-to-side, </a:t>
            </a:r>
            <a:r>
              <a:rPr lang="en-US" sz="1600" b="1" dirty="0"/>
              <a:t>4</a:t>
            </a:r>
            <a:r>
              <a:rPr lang="en-US" sz="1600" dirty="0"/>
              <a:t> = sideswipe, </a:t>
            </a:r>
            <a:r>
              <a:rPr lang="en-US" sz="1600" b="1" dirty="0"/>
              <a:t>5</a:t>
            </a:r>
            <a:r>
              <a:rPr lang="en-US" sz="1600" dirty="0"/>
              <a:t> = No collision with another vehicle in transport.</a:t>
            </a:r>
          </a:p>
        </p:txBody>
      </p:sp>
    </p:spTree>
    <p:extLst>
      <p:ext uri="{BB962C8B-B14F-4D97-AF65-F5344CB8AC3E}">
        <p14:creationId xmlns:p14="http://schemas.microsoft.com/office/powerpoint/2010/main" val="263893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28F67D0-240C-6895-E68D-D2A1D77F95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220" b="1451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Findings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421466"/>
            <a:ext cx="9144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4138508"/>
          </a:xfrm>
        </p:spPr>
        <p:txBody>
          <a:bodyPr>
            <a:normAutofit/>
          </a:bodyPr>
          <a:lstStyle/>
          <a:p>
            <a:r>
              <a:rPr lang="en-US" dirty="0"/>
              <a:t>A common theme is that vehicle speed combined with number of intersections has a significant role in traffic fatalities.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Road functions that have low speeds (local, minor collector) tend to have the lowest count of fatal collisions.</a:t>
            </a:r>
          </a:p>
          <a:p>
            <a:r>
              <a:rPr lang="en-US" dirty="0"/>
              <a:t>Roads that have high speeds but no intersections such as interstates also have lower counts of fatal collisions.</a:t>
            </a:r>
          </a:p>
          <a:p>
            <a:r>
              <a:rPr lang="en-US" dirty="0">
                <a:solidFill>
                  <a:srgbClr val="FFFFFF"/>
                </a:solidFill>
              </a:rPr>
              <a:t>Collisions that involve pedestrians have higher counts of fatalities.</a:t>
            </a:r>
          </a:p>
          <a:p>
            <a:r>
              <a:rPr lang="en-US" dirty="0">
                <a:solidFill>
                  <a:srgbClr val="FFFFFF"/>
                </a:solidFill>
              </a:rPr>
              <a:t>Rear-end collisions are most commonly found on interstates and high-speed roads with limited access (freeways).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394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4226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Eliminate unprotected left turns from businesses on to roads that have multiple lanes in each direction and have high vehicle speeds by installing road dividers.</a:t>
            </a:r>
          </a:p>
          <a:p>
            <a:r>
              <a:rPr lang="en-US" dirty="0"/>
              <a:t>Install more crosswalks in urban areas for pedestrians.</a:t>
            </a:r>
          </a:p>
          <a:p>
            <a:r>
              <a:rPr lang="en-US" dirty="0"/>
              <a:t>Implement roundabouts at 4-way intersections where traffic volume isn’t too high. Roundabouts are safer since vehicle speeds are lower and head on and angle collisions are eliminated with roundabouts (Ferguson &amp; McCartt, 2003).</a:t>
            </a:r>
          </a:p>
          <a:p>
            <a:r>
              <a:rPr lang="en-US" dirty="0"/>
              <a:t>Narrow lanes, install pedestrian fences on divided roads or install speed humps to reduce pedestrian fatalities on roads that have a high number of pedestrians struck (Ferguson &amp; McCartt, 2003).</a:t>
            </a:r>
          </a:p>
          <a:p>
            <a:r>
              <a:rPr lang="en-US" dirty="0"/>
              <a:t>Remove on street parking and implement diagonal parking on streets that have a high number of parked vehicles and pedestrians struck (Ferguson &amp; McCartt, 2003).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47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4955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datasets that have a lot of features or variables, most rows will have some </a:t>
            </a:r>
            <a:r>
              <a:rPr lang="en-US" dirty="0" err="1"/>
              <a:t>some</a:t>
            </a:r>
            <a:r>
              <a:rPr lang="en-US" dirty="0"/>
              <a:t> unknown variables. Therefore, rows should only be deleted if the target variable is missing or if the data is inaccurate.</a:t>
            </a:r>
          </a:p>
          <a:p>
            <a:r>
              <a:rPr lang="en-US" dirty="0"/>
              <a:t>It is important to know what each column is measuring. Knowing each column makes it easier when deciding what to do when handling outliers.</a:t>
            </a:r>
          </a:p>
          <a:p>
            <a:r>
              <a:rPr lang="en-US" dirty="0"/>
              <a:t>Machine learning algorithms are biased when the target variable groups are unevenly distributed. In this project, both models had a high count of false positives for angle collisions and head on collisions, and a lot of false negatives for rear-to-side and sideswipe collisions which were underrepresented in the dataset.</a:t>
            </a:r>
          </a:p>
          <a:p>
            <a:r>
              <a:rPr lang="en-US" dirty="0"/>
              <a:t>In most scenarios the data should have even representation for all groups but for this project, rear-to-side and sideswipe collisions that result in at least one fatality are rare so having this bias makes the models </a:t>
            </a:r>
            <a:r>
              <a:rPr lang="en-US"/>
              <a:t>predictions more </a:t>
            </a:r>
            <a:r>
              <a:rPr lang="en-US" dirty="0"/>
              <a:t>realistic.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40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Retting, R. A., Ferguson, S. A., &amp; McCartt, A. T. (2003). A review of evidence-based traffic engineering measures designed to reduce pedestrian-motor vehicle crashes. 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American journal of public health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, 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93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(9), 1456–1463. https://doi.org/10.2105/ajph.93.9.1456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74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163</TotalTime>
  <Words>1165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Roboto Mono Web</vt:lpstr>
      <vt:lpstr>Organic</vt:lpstr>
      <vt:lpstr>Analyzing Motor Vehicle Collision Types</vt:lpstr>
      <vt:lpstr>Data Analysis Project Description</vt:lpstr>
      <vt:lpstr>Data Set Description</vt:lpstr>
      <vt:lpstr>Describe the Data</vt:lpstr>
      <vt:lpstr>Visualizations</vt:lpstr>
      <vt:lpstr>Visualization #2</vt:lpstr>
      <vt:lpstr>Decision Tree Model</vt:lpstr>
      <vt:lpstr>Decision Tree Model (Cont.)</vt:lpstr>
      <vt:lpstr>Naïve Bayes Model</vt:lpstr>
      <vt:lpstr>Findings</vt:lpstr>
      <vt:lpstr>Recommendations</vt:lpstr>
      <vt:lpstr>Lessons Learned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for your Data Analysis Project</dc:title>
  <dc:creator>Jon McKeeby</dc:creator>
  <cp:lastModifiedBy>Brady Bloss</cp:lastModifiedBy>
  <cp:revision>18</cp:revision>
  <dcterms:created xsi:type="dcterms:W3CDTF">2015-08-30T00:29:46Z</dcterms:created>
  <dcterms:modified xsi:type="dcterms:W3CDTF">2025-04-28T10:33:38Z</dcterms:modified>
</cp:coreProperties>
</file>